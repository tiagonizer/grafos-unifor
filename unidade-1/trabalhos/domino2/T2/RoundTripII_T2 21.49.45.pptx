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Animação: cada clique avança um passo da busca (1, 3, 2) até encontrar o ciclo 2 →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264A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de Problemas com </a:t>
            </a:r>
            <a:pPr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Grafos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52852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Trabalho Prático 2 - Problema E: Round Trip II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687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B  |  Davi Tavares, Matheus Perestrelo e Tiago Pascoal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Prof. Me. Ricardo Carubbi (carubbi@unifor.br)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DE PROBLEMAS COM GRAFOS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9224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Introdução do problema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969264" cy="9144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07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 Round Trip II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6199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DE CIÊNCIAS TECNOLÓGICAS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CSES Problem Set - Round Trip II. Disponível em: https://cses.fi/problemset/task/1678</a:t>
            </a:r>
            <a:endParaRPr lang="en-US" sz="750" dirty="0"/>
          </a:p>
        </p:txBody>
      </p:sp>
      <p:pic>
        <p:nvPicPr>
          <p:cNvPr id="8" name="Image 0" descr="/home/claude/t2/assets/logo_uni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788152"/>
            <a:ext cx="2112264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86000"/>
            <a:ext cx="228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539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 cidades e m voos de </a:t>
            </a:r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única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663952"/>
            <a:ext cx="228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66395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Achar uma viagem que sai de uma cidade, passa por outras </a:t>
            </a:r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repetir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volta para a inicial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 não existir: IMPOSSIBLE.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3578352"/>
            <a:ext cx="228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3578352"/>
            <a:ext cx="53949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Modelagem: </a:t>
            </a:r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cidade = vértice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voo = aresta dirigida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" y="4069080"/>
            <a:ext cx="5669280" cy="566928"/>
          </a:xfrm>
          <a:prstGeom prst="rect">
            <a:avLst/>
          </a:prstGeom>
          <a:solidFill>
            <a:srgbClr val="FDE9A9"/>
          </a:solidFill>
          <a:ln w="12700">
            <a:solidFill>
              <a:srgbClr val="FDE9A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0690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em grafos: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grafo dirigido tem um ciclo?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Limites: n até 100.000 e m até 200.000.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385048" y="4251960"/>
            <a:ext cx="1956816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345785" y="2705905"/>
            <a:ext cx="1093631" cy="13405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333488" y="2514600"/>
            <a:ext cx="1591056" cy="0"/>
          </a:xfrm>
          <a:prstGeom prst="line">
            <a:avLst/>
          </a:prstGeom>
          <a:noFill/>
          <a:ln w="41275">
            <a:solidFill>
              <a:srgbClr val="0091D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H="1">
            <a:off x="8275469" y="2725813"/>
            <a:ext cx="786412" cy="1299289"/>
          </a:xfrm>
          <a:prstGeom prst="line">
            <a:avLst/>
          </a:prstGeom>
          <a:noFill/>
          <a:ln w="41275">
            <a:solidFill>
              <a:srgbClr val="0091DE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 flipV="1">
            <a:off x="7223909" y="2741458"/>
            <a:ext cx="786412" cy="1299289"/>
          </a:xfrm>
          <a:prstGeom prst="line">
            <a:avLst/>
          </a:prstGeom>
          <a:noFill/>
          <a:ln w="41275">
            <a:solidFill>
              <a:srgbClr val="0091DE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6839712" y="2267712"/>
            <a:ext cx="493776" cy="493776"/>
          </a:xfrm>
          <a:prstGeom prst="ellipse">
            <a:avLst/>
          </a:prstGeom>
          <a:solidFill>
            <a:srgbClr val="0091DE"/>
          </a:solidFill>
          <a:ln w="1905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891272" y="4005072"/>
            <a:ext cx="493776" cy="493776"/>
          </a:xfrm>
          <a:prstGeom prst="ellipse">
            <a:avLst/>
          </a:prstGeom>
          <a:solidFill>
            <a:srgbClr val="0091DE"/>
          </a:solidFill>
          <a:ln w="1905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942832" y="2267712"/>
            <a:ext cx="493776" cy="493776"/>
          </a:xfrm>
          <a:prstGeom prst="ellipse">
            <a:avLst/>
          </a:prstGeom>
          <a:solidFill>
            <a:srgbClr val="0091DE"/>
          </a:solidFill>
          <a:ln w="1905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360152" y="4005072"/>
            <a:ext cx="493776" cy="493776"/>
          </a:xfrm>
          <a:prstGeom prst="ellipse">
            <a:avLst/>
          </a:prstGeom>
          <a:solidFill>
            <a:srgbClr val="E8F2FC"/>
          </a:solidFill>
          <a:ln w="19050">
            <a:solidFill>
              <a:srgbClr val="4A8F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012680" y="2194560"/>
            <a:ext cx="150876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CBCBC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77272" y="2322576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2 1 3 2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7512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1. </a:t>
            </a:r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do enunciado: 4 cidades e 5 voos (1→3, 2→1, 2→4, 3→2, 3→4). Em azul, o ciclo 2 → 1 → 3 → 2. Fonte: CSES.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DE PROBLEMAS COM GRAFOS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9224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Leitura dos dados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969264" cy="9144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07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 Da entrada para o grafo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6199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DE CIÊNCIAS TECNOLÓGICAS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SEDGEWICK, Robert; WAYNE, Kevin. Algorithms. Addison-Wesley Professional, 2014. Disponível em: https://algs4.cs.princeton.edu/home/</a:t>
            </a:r>
            <a:endParaRPr lang="en-US" sz="750" dirty="0"/>
          </a:p>
        </p:txBody>
      </p:sp>
      <p:pic>
        <p:nvPicPr>
          <p:cNvPr id="8" name="Image 0" descr="/home/claude/t2/assets/logo_uni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788152"/>
            <a:ext cx="2112264" cy="6583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2286000"/>
            <a:ext cx="6492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CBCB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2414016"/>
            <a:ext cx="6217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= sys.stdin.buffer.read().split()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m = int(dados[0]), int(dados[1])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Digraph(n + 1)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range(m - 1, -1, -1):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g.add_edge(dados[2 + 2 * i], dados[3 + 2 * i])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52360" y="23774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4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a entrada inteira de uma vez e separa em números: primeiro n e m.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52360" y="2926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4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 + 1 vértices: as cidades começam em 1, então o vértice 0 fica sem uso.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52360" y="345643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4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add_edge para cada voo.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4069080"/>
            <a:ext cx="10820095" cy="530352"/>
          </a:xfrm>
          <a:prstGeom prst="rect">
            <a:avLst/>
          </a:prstGeom>
          <a:solidFill>
            <a:srgbClr val="FDE9A9"/>
          </a:solidFill>
          <a:ln w="12700">
            <a:solidFill>
              <a:srgbClr val="FDE9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6908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o laço anda de trás para frente?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Bag insere cada item no início da lista; lendo os voos do último ao primeiro, a lista fica na ordem da entrada.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" y="4800600"/>
            <a:ext cx="2011680" cy="960120"/>
          </a:xfrm>
          <a:prstGeom prst="rect">
            <a:avLst/>
          </a:prstGeom>
          <a:solidFill>
            <a:srgbClr val="FFFFFF"/>
          </a:solidFill>
          <a:ln w="31750">
            <a:solidFill>
              <a:srgbClr val="CBCB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" y="4928616"/>
            <a:ext cx="1737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4 5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1 3  2 1  2 4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3 2  3 4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34640" y="5276088"/>
            <a:ext cx="731520" cy="0"/>
          </a:xfrm>
          <a:prstGeom prst="line">
            <a:avLst/>
          </a:prstGeom>
          <a:noFill/>
          <a:ln w="31750">
            <a:solidFill>
              <a:srgbClr val="0091DE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3703320" y="50932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Digraph(5)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0: [ ]   1: [3]   2: [1, 4]   3: [2, 4]   4: [ ]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DE PROBLEMAS COM GRAFOS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9224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Classe Digraph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969264" cy="9144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07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3.1 Um grafo com direção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6199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DE CIÊNCIAS TECNOLÓGICAS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SEDGEWICK, Robert; WAYNE, Kevin. Algorithms. Addison-Wesley Professional, 2014. Disponível em: https://algs4.cs.princeton.edu/home/</a:t>
            </a:r>
            <a:endParaRPr lang="en-US" sz="750" dirty="0"/>
          </a:p>
        </p:txBody>
      </p:sp>
      <p:pic>
        <p:nvPicPr>
          <p:cNvPr id="8" name="Image 0" descr="/home/claude/t2/assets/logo_uni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788152"/>
            <a:ext cx="2112264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86000"/>
            <a:ext cx="228600" cy="259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55778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cada vértice, o Digraph guarda a lista dos vértices para onde ele tem aresta: a </a:t>
            </a:r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 de adjacência</a:t>
            </a:r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(cada lista é um Bag).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5800" y="3175254"/>
            <a:ext cx="228600" cy="259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60120" y="3175254"/>
            <a:ext cx="5577840" cy="259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aresta tem direção: </a:t>
            </a:r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 entra só na lista de v</a:t>
            </a:r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85800" y="3703320"/>
            <a:ext cx="585216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CBCB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3831336"/>
            <a:ext cx="5577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add_edge(self, v, w):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v, w = int(v), int(w)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self.adj[v].add(w)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 += 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2044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 só na lista de 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49377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4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 grafo sem direção também haveria adj[w].add(v). Aqui, ter 2→1 não quer dizer que existe 1→2.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86600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 de adjacência do exemplo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86600" y="2743200"/>
            <a:ext cx="777240" cy="457200"/>
          </a:xfrm>
          <a:prstGeom prst="rect">
            <a:avLst/>
          </a:prstGeom>
          <a:solidFill>
            <a:srgbClr val="1C4A7E"/>
          </a:solidFill>
          <a:ln w="12700">
            <a:solidFill>
              <a:srgbClr val="1C4A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2743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adj[1]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82128" y="2971800"/>
            <a:ext cx="384048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339328" y="2743200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CB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39328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086600" y="3401568"/>
            <a:ext cx="777240" cy="457200"/>
          </a:xfrm>
          <a:prstGeom prst="rect">
            <a:avLst/>
          </a:prstGeom>
          <a:solidFill>
            <a:srgbClr val="1C4A7E"/>
          </a:solidFill>
          <a:ln w="12700">
            <a:solidFill>
              <a:srgbClr val="1C4A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86600" y="3401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adj[2]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82128" y="3630168"/>
            <a:ext cx="384048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339328" y="3401568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CB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3401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997696" y="3401568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CBC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97696" y="3401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086600" y="4059936"/>
            <a:ext cx="777240" cy="457200"/>
          </a:xfrm>
          <a:prstGeom prst="rect">
            <a:avLst/>
          </a:prstGeom>
          <a:solidFill>
            <a:srgbClr val="1C4A7E"/>
          </a:solidFill>
          <a:ln w="12700">
            <a:solidFill>
              <a:srgbClr val="1C4A7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6600" y="405993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adj[3]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882128" y="4288536"/>
            <a:ext cx="384048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39328" y="4059936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CBC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39328" y="4059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997696" y="4059936"/>
            <a:ext cx="5486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CBC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97696" y="4059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086600" y="4718304"/>
            <a:ext cx="777240" cy="457200"/>
          </a:xfrm>
          <a:prstGeom prst="rect">
            <a:avLst/>
          </a:prstGeom>
          <a:solidFill>
            <a:srgbClr val="1C4A7E"/>
          </a:solidFill>
          <a:ln w="12700">
            <a:solidFill>
              <a:srgbClr val="1C4A7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47183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adj[4]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882128" y="4946904"/>
            <a:ext cx="384048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8339328" y="47183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]  (nenhum voo sai da cidade 4)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08660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2.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voo a→b aparece uma única vez, na lista de 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DE PROBLEMAS COM GRAFOS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9224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Classe DirectedCycle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969264" cy="9144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07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4.1 Como o ciclo é encontrado (DFS)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6199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DE CIÊNCIAS TECNOLÓGICAS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SEDGEWICK, Robert; WAYNE, Kevin. Algorithms. Addison-Wesley Professional, 2014. Disponível em: https://algs4.cs.princeton.edu/home/</a:t>
            </a:r>
            <a:endParaRPr lang="en-US" sz="750" dirty="0"/>
          </a:p>
        </p:txBody>
      </p:sp>
      <p:pic>
        <p:nvPicPr>
          <p:cNvPr id="8" name="Image 0" descr="/home/claude/t2/assets/logo_uni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788152"/>
            <a:ext cx="2112264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marked[v]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3172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 já foi visitado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2670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on_stack[v]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331720" y="2670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 está no caminho que a busca percorre agora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30998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edge_to[w]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331720" y="3099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qual vértice a busca chegou em w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611880"/>
            <a:ext cx="507492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CBCB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37398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next(vizinhos, None)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 is None:          # v acabou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self.on_stack[v] = False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pilha.pop()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not self._marked[w]:  # novo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# entra no caminho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self.on_stack[w]:     # ciclo!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93408" y="2514600"/>
            <a:ext cx="1316736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>
            <a:off x="7530682" y="2704265"/>
            <a:ext cx="586585" cy="70390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H="1" flipV="1">
            <a:off x="6616282" y="2718314"/>
            <a:ext cx="586585" cy="70390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607808" y="3611880"/>
            <a:ext cx="1682496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462771" y="2675273"/>
            <a:ext cx="891372" cy="764033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6199632" y="2267712"/>
            <a:ext cx="493776" cy="493776"/>
          </a:xfrm>
          <a:prstGeom prst="ellipse">
            <a:avLst/>
          </a:prstGeom>
          <a:solidFill>
            <a:srgbClr val="E8F2FC"/>
          </a:solidFill>
          <a:ln w="19050">
            <a:solidFill>
              <a:srgbClr val="4A8F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114032" y="3364992"/>
            <a:ext cx="493776" cy="493776"/>
          </a:xfrm>
          <a:prstGeom prst="ellipse">
            <a:avLst/>
          </a:prstGeom>
          <a:solidFill>
            <a:srgbClr val="E8F2FC"/>
          </a:solidFill>
          <a:ln w="19050">
            <a:solidFill>
              <a:srgbClr val="4A8F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28432" y="2267712"/>
            <a:ext cx="493776" cy="493776"/>
          </a:xfrm>
          <a:prstGeom prst="ellipse">
            <a:avLst/>
          </a:prstGeom>
          <a:solidFill>
            <a:srgbClr val="E8F2FC"/>
          </a:solidFill>
          <a:ln w="19050">
            <a:solidFill>
              <a:srgbClr val="4A8F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308592" y="3364992"/>
            <a:ext cx="493776" cy="493776"/>
          </a:xfrm>
          <a:prstGeom prst="ellipse">
            <a:avLst/>
          </a:prstGeom>
          <a:solidFill>
            <a:srgbClr val="E8F2FC"/>
          </a:solidFill>
          <a:ln w="19050">
            <a:solidFill>
              <a:srgbClr val="4A8F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anim1_n1"/>
          <p:cNvSpPr/>
          <p:nvPr/>
        </p:nvSpPr>
        <p:spPr>
          <a:xfrm>
            <a:off x="6199632" y="2267712"/>
            <a:ext cx="493776" cy="493776"/>
          </a:xfrm>
          <a:prstGeom prst="ellipse">
            <a:avLst/>
          </a:prstGeom>
          <a:solidFill>
            <a:srgbClr val="0091DE"/>
          </a:solidFill>
          <a:ln w="1905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anim2_e13"/>
          <p:cNvSpPr/>
          <p:nvPr/>
        </p:nvSpPr>
        <p:spPr>
          <a:xfrm>
            <a:off x="6693408" y="2514600"/>
            <a:ext cx="1316736" cy="0"/>
          </a:xfrm>
          <a:prstGeom prst="line">
            <a:avLst/>
          </a:prstGeom>
          <a:noFill/>
          <a:ln w="41275">
            <a:solidFill>
              <a:srgbClr val="0091DE"/>
            </a:solidFill>
            <a:prstDash val="solid"/>
            <a:tailEnd type="triangle"/>
          </a:ln>
        </p:spPr>
      </p:sp>
      <p:sp>
        <p:nvSpPr>
          <p:cNvPr id="28" name="anim2_n3"/>
          <p:cNvSpPr/>
          <p:nvPr/>
        </p:nvSpPr>
        <p:spPr>
          <a:xfrm>
            <a:off x="8028432" y="2267712"/>
            <a:ext cx="493776" cy="493776"/>
          </a:xfrm>
          <a:prstGeom prst="ellipse">
            <a:avLst/>
          </a:prstGeom>
          <a:solidFill>
            <a:srgbClr val="0091DE"/>
          </a:solidFill>
          <a:ln w="1905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anim3_e32"/>
          <p:cNvSpPr/>
          <p:nvPr/>
        </p:nvSpPr>
        <p:spPr>
          <a:xfrm flipH="1">
            <a:off x="7530682" y="2704265"/>
            <a:ext cx="586585" cy="703902"/>
          </a:xfrm>
          <a:prstGeom prst="line">
            <a:avLst/>
          </a:prstGeom>
          <a:noFill/>
          <a:ln w="41275">
            <a:solidFill>
              <a:srgbClr val="0091DE"/>
            </a:solidFill>
            <a:prstDash val="solid"/>
            <a:tailEnd type="triangle"/>
          </a:ln>
        </p:spPr>
      </p:sp>
      <p:sp>
        <p:nvSpPr>
          <p:cNvPr id="30" name="anim3_n2"/>
          <p:cNvSpPr/>
          <p:nvPr/>
        </p:nvSpPr>
        <p:spPr>
          <a:xfrm>
            <a:off x="7114032" y="3364992"/>
            <a:ext cx="493776" cy="493776"/>
          </a:xfrm>
          <a:prstGeom prst="ellipse">
            <a:avLst/>
          </a:prstGeom>
          <a:solidFill>
            <a:srgbClr val="0091DE"/>
          </a:solidFill>
          <a:ln w="1905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anim4_e21"/>
          <p:cNvSpPr/>
          <p:nvPr/>
        </p:nvSpPr>
        <p:spPr>
          <a:xfrm flipH="1" flipV="1">
            <a:off x="6616282" y="2718314"/>
            <a:ext cx="586585" cy="703902"/>
          </a:xfrm>
          <a:prstGeom prst="line">
            <a:avLst/>
          </a:prstGeom>
          <a:noFill/>
          <a:ln w="47625">
            <a:solidFill>
              <a:srgbClr val="C24F4A"/>
            </a:solidFill>
            <a:prstDash val="solid"/>
            <a:tailEnd type="triangle"/>
          </a:ln>
        </p:spPr>
      </p:sp>
      <p:sp>
        <p:nvSpPr>
          <p:cNvPr id="32" name="anim4_n1"/>
          <p:cNvSpPr/>
          <p:nvPr/>
        </p:nvSpPr>
        <p:spPr>
          <a:xfrm>
            <a:off x="6199632" y="2267712"/>
            <a:ext cx="493776" cy="493776"/>
          </a:xfrm>
          <a:prstGeom prst="ellipse">
            <a:avLst/>
          </a:prstGeom>
          <a:solidFill>
            <a:srgbClr val="C24F4A"/>
          </a:solidFill>
          <a:ln w="19050">
            <a:solidFill>
              <a:srgbClr val="C24F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469880" y="21031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on_stack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515600" y="2377440"/>
            <a:ext cx="9601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CBCBCB"/>
            </a:solidFill>
            <a:prstDash val="solid"/>
          </a:ln>
        </p:spPr>
      </p:sp>
      <p:sp>
        <p:nvSpPr>
          <p:cNvPr id="35" name="anim1_p1"/>
          <p:cNvSpPr/>
          <p:nvPr/>
        </p:nvSpPr>
        <p:spPr>
          <a:xfrm>
            <a:off x="10607040" y="3493008"/>
            <a:ext cx="777240" cy="384048"/>
          </a:xfrm>
          <a:prstGeom prst="rect">
            <a:avLst/>
          </a:prstGeom>
          <a:solidFill>
            <a:srgbClr val="E8F2FC"/>
          </a:solidFill>
          <a:ln w="1270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anim2_p3"/>
          <p:cNvSpPr/>
          <p:nvPr/>
        </p:nvSpPr>
        <p:spPr>
          <a:xfrm>
            <a:off x="10607040" y="3017520"/>
            <a:ext cx="777240" cy="384048"/>
          </a:xfrm>
          <a:prstGeom prst="rect">
            <a:avLst/>
          </a:prstGeom>
          <a:solidFill>
            <a:srgbClr val="E8F2FC"/>
          </a:solidFill>
          <a:ln w="1270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anim3_p2"/>
          <p:cNvSpPr/>
          <p:nvPr/>
        </p:nvSpPr>
        <p:spPr>
          <a:xfrm>
            <a:off x="10607040" y="2542032"/>
            <a:ext cx="777240" cy="384048"/>
          </a:xfrm>
          <a:prstGeom prst="rect">
            <a:avLst/>
          </a:prstGeom>
          <a:solidFill>
            <a:srgbClr val="E8F2FC"/>
          </a:solidFill>
          <a:ln w="12700">
            <a:solidFill>
              <a:srgbClr val="0091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anim1_t"/>
          <p:cNvSpPr/>
          <p:nvPr/>
        </p:nvSpPr>
        <p:spPr>
          <a:xfrm>
            <a:off x="6035040" y="4114800"/>
            <a:ext cx="5486400" cy="24688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Começa no 1 (o 0 não tem voos).</a:t>
            </a:r>
            <a:endParaRPr lang="en-US" sz="1150" dirty="0"/>
          </a:p>
        </p:txBody>
      </p:sp>
      <p:sp>
        <p:nvSpPr>
          <p:cNvPr id="39" name="anim2_t"/>
          <p:cNvSpPr/>
          <p:nvPr/>
        </p:nvSpPr>
        <p:spPr>
          <a:xfrm>
            <a:off x="6035040" y="43799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3 é novo: marca, entra no caminho, edge_to[3] = 1.</a:t>
            </a:r>
            <a:endParaRPr lang="en-US" sz="1150" dirty="0"/>
          </a:p>
        </p:txBody>
      </p:sp>
      <p:sp>
        <p:nvSpPr>
          <p:cNvPr id="40" name="anim3_t"/>
          <p:cNvSpPr/>
          <p:nvPr/>
        </p:nvSpPr>
        <p:spPr>
          <a:xfrm>
            <a:off x="6035040" y="4645152"/>
            <a:ext cx="5486400" cy="24688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2 é novo: edge_to[2] = 3.</a:t>
            </a:r>
            <a:endParaRPr lang="en-US" sz="1150" dirty="0"/>
          </a:p>
        </p:txBody>
      </p:sp>
      <p:sp>
        <p:nvSpPr>
          <p:cNvPr id="41" name="anim4_t"/>
          <p:cNvSpPr/>
          <p:nvPr/>
        </p:nvSpPr>
        <p:spPr>
          <a:xfrm>
            <a:off x="6035040" y="4910328"/>
            <a:ext cx="5486400" cy="246888"/>
          </a:xfrm>
          <a:prstGeom prst="rect">
            <a:avLst/>
          </a:prstGeom>
          <a:solidFill>
            <a:srgbClr val="FDE9A9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Vizinho 1 do 2: marcado e on_stack → ciclo!</a:t>
            </a:r>
            <a:endParaRPr lang="en-US" sz="1150" dirty="0"/>
          </a:p>
        </p:txBody>
      </p:sp>
      <p:sp>
        <p:nvSpPr>
          <p:cNvPr id="42" name="anim4_r"/>
          <p:cNvSpPr/>
          <p:nvPr/>
        </p:nvSpPr>
        <p:spPr>
          <a:xfrm>
            <a:off x="6035040" y="5257800"/>
            <a:ext cx="5486400" cy="347472"/>
          </a:xfrm>
          <a:prstGeom prst="rect">
            <a:avLst/>
          </a:prstGeom>
          <a:solidFill>
            <a:srgbClr val="FDE9A9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Reconstrução pelo edge_to: 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← 3 ← 1, fecha e inverte →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2 1 3 2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85800" y="52852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A5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Adaptação: </a:t>
            </a:r>
            <a:pPr indent="0" marL="0">
              <a:buNone/>
            </a:pPr>
            <a:r>
              <a:rPr lang="en-US" sz="1000" dirty="0">
                <a:solidFill>
                  <a:srgbClr val="4A5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algs4 a DFS é recursiva; com n até 100.000 a recursão do Python estouraria, então ela virou uma pilha explícita (lista). Os vetores e o critério são os mesmos.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5" grpId="0" animBg="1"/>
      <p:bldP spid="38" grpId="0" animBg="1"/>
      <p:bldP spid="27" grpId="0" animBg="1"/>
      <p:bldP spid="28" grpId="0" animBg="1"/>
      <p:bldP spid="36" grpId="0" animBg="1"/>
      <p:bldP spid="39" grpId="0" animBg="1"/>
      <p:bldP spid="29" grpId="0" animBg="1"/>
      <p:bldP spid="30" grpId="0" animBg="1"/>
      <p:bldP spid="37" grpId="0" animBg="1"/>
      <p:bldP spid="40" grpId="0" animBg="1"/>
      <p:bldP spid="31" grpId="0" animBg="1"/>
      <p:bldP spid="32" grpId="0" animBg="1"/>
      <p:bldP spid="41" grpId="0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DE PROBLEMAS COM GRAFOS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9224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Complexidade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969264" cy="9144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07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5.1 Tempo e memória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6199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DE CIÊNCIAS TECNOLÓGICAS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SEDGEWICK, Robert; WAYNE, Kevin. Algorithms. Addison-Wesley Professional, 2014. Disponível em: https://algs4.cs.princeton.edu/home/</a:t>
            </a:r>
            <a:endParaRPr lang="en-US" sz="750" dirty="0"/>
          </a:p>
        </p:txBody>
      </p:sp>
      <p:pic>
        <p:nvPicPr>
          <p:cNvPr id="8" name="Image 0" descr="/home/claude/t2/assets/logo_uni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788152"/>
            <a:ext cx="2112264" cy="6583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228600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286000"/>
            <a:ext cx="82296" cy="274320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450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5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2743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O(V + E)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05840" y="3520440"/>
            <a:ext cx="228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80160" y="3520440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vértice é visitado uma vez: depois de marcado, não entra de novo no caminho.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066032"/>
            <a:ext cx="228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80160" y="4066032"/>
            <a:ext cx="4480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aresta é olhada uma vez: o próximo vizinho continua de onde parou, porque o iterador fica guardado na pilha.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228600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286000"/>
            <a:ext cx="82296" cy="2743200"/>
          </a:xfrm>
          <a:prstGeom prst="rect">
            <a:avLst/>
          </a:prstGeom>
          <a:solidFill>
            <a:srgbClr val="0091DE"/>
          </a:solidFill>
          <a:ln w="12700">
            <a:solidFill>
              <a:srgbClr val="0091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2450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5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Memória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37960" y="2743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4A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O(V + E)  +  O(V)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537960" y="3520440"/>
            <a:ext cx="228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12280" y="3520440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O(V + E) para o grafo: V listas que, somadas, têm E itens.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4066032"/>
            <a:ext cx="228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12280" y="4066032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O(V) para marked, on_stack, edge_to e a pilha, que nunca passa de V vértices.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" y="5212080"/>
            <a:ext cx="10820095" cy="457200"/>
          </a:xfrm>
          <a:prstGeom prst="rect">
            <a:avLst/>
          </a:prstGeom>
          <a:solidFill>
            <a:srgbClr val="FDE9A9"/>
          </a:solidFill>
          <a:ln w="12700">
            <a:solidFill>
              <a:srgbClr val="FDE9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52120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limite do problema: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 + E ≈ 100.000 + 200.000 = 300 mil passos básicos.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2316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Obrigado!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A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B  |  Round Trip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Solução aceita no CSES: 23 de 23 testes.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594360"/>
            <a:ext cx="5002269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t2/assets/accep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685800"/>
            <a:ext cx="4819389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Trip II - Trabalho Prático 2</dc:title>
  <dc:subject>PptxGenJS Presentation</dc:subject>
  <dc:creator>PptxGenJS</dc:creator>
  <cp:lastModifiedBy>PptxGenJS</cp:lastModifiedBy>
  <cp:revision>1</cp:revision>
  <dcterms:created xsi:type="dcterms:W3CDTF">2026-10-08T00:48:24Z</dcterms:created>
  <dcterms:modified xsi:type="dcterms:W3CDTF">2026-10-08T00:48:24Z</dcterms:modified>
</cp:coreProperties>
</file>