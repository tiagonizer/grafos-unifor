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34A26E-B263-47A8-9D14-C651F689C78B}">
  <a:tblStyle styleId="{C634A26E-B263-47A8-9D14-C651F689C7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em desenvolvimento: por ora apenas a implementação básica dos dois algoritmos.</a:t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em desenvolvimento: conclusões preliminares da análise.</a:t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8FD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work/logo_cct_white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32" y="777240"/>
            <a:ext cx="2697480" cy="184708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822960" y="416052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4678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A4678"/>
                </a:solidFill>
                <a:latin typeface="Calibri"/>
                <a:ea typeface="Calibri"/>
                <a:cs typeface="Calibri"/>
                <a:sym typeface="Calibri"/>
              </a:rPr>
              <a:t>Resolução de Problemas com </a:t>
            </a: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Grafos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822960" y="493776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4678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2A4678"/>
                </a:solidFill>
                <a:latin typeface="Calibri"/>
                <a:ea typeface="Calibri"/>
                <a:cs typeface="Calibri"/>
                <a:sym typeface="Calibri"/>
              </a:rPr>
              <a:t>Dominoes 2 — Alcançabilidade em grafos direcionados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534924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Apresentação Final do T1  |  Centro de Ciências Tecnológicas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667512" y="47548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RESOLUÇÃO DE PROBLEMAS COM GRAFOS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612648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1 Problema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67512" y="1399032"/>
            <a:ext cx="960120" cy="50292"/>
          </a:xfrm>
          <a:prstGeom prst="rect">
            <a:avLst/>
          </a:prstGeom>
          <a:solidFill>
            <a:srgbClr val="009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612648" y="160934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1.1 Contexto e definição do problema (Dominoes 2)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667512" y="58704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CENTRO DE CIÊNCIAS TECNOLÓGICAS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667512" y="6071616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1. Dominoes 2 — enunciado do problema (Kattis / ICPC).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logo_unifor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48" y="5504688"/>
            <a:ext cx="2194560" cy="58064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667512" y="2103120"/>
            <a:ext cx="49834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Peças de dominó em fila: ao cair, uma peça derruba a seguinte em efeito cascata.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Algumas peças falham em derrubar a próxima → é preciso derrubar peças manualmente.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Objetivo: dado o conjunto de peças derrubadas à mão, determinar o total de peças que caem.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Entrada: n peças, m relações “x y” e l peças z derrubadas à mão — todos ≤ 10 000.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relação x → y é assimétrica: caracteriza naturalmente um grafo direcionado.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grafo.png"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2121408"/>
            <a:ext cx="301752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9098280" y="2121408"/>
            <a:ext cx="2633472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9244584" y="2212848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Entrada  →  Saída: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9244584" y="2450592"/>
            <a:ext cx="2340864" cy="1527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7 6 1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3 4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4 5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4 6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4 7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897880" y="4279392"/>
            <a:ext cx="5833872" cy="384048"/>
          </a:xfrm>
          <a:prstGeom prst="rect">
            <a:avLst/>
          </a:prstGeom>
          <a:solidFill>
            <a:srgbClr val="FDE9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6007608" y="4297680"/>
            <a:ext cx="561441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Derrubando a peça 1 à mão, todas as 7 peças caem.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667512" y="5138928"/>
            <a:ext cx="1085667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Figura 1: grafo direcionado do problema, com 7 vértices e 6 arcos. Cada vértice é uma peça de dominó e cada arco (x, y) indica que a queda de x provoca a queda de 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/>
        </p:nvSpPr>
        <p:spPr>
          <a:xfrm>
            <a:off x="667512" y="47548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RESOLUÇÃO DE PROBLEMAS COM GRAFOS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612648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2 Modelagem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67512" y="1399032"/>
            <a:ext cx="960120" cy="50292"/>
          </a:xfrm>
          <a:prstGeom prst="rect">
            <a:avLst/>
          </a:prstGeom>
          <a:solidFill>
            <a:srgbClr val="009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 txBox="1"/>
          <p:nvPr/>
        </p:nvSpPr>
        <p:spPr>
          <a:xfrm>
            <a:off x="612648" y="160934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2.1 Modelagem do problema como grafo G = (V, E)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667512" y="58704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CENTRO DE CIÊNCIAS TECNOLÓGICAS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667512" y="6071616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1. NICOLETTI, M. C.; HRUSCHKA JR., E. R. Fundamentos da teoria dos grafos para computação, 2017.  2. ASCENCIO, A. F. G.; ARAÚJO, G. S. Estruturas de Dados, 2010.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logo_unifor.png"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48" y="5504688"/>
            <a:ext cx="2194560" cy="58064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 txBox="1"/>
          <p:nvPr/>
        </p:nvSpPr>
        <p:spPr>
          <a:xfrm>
            <a:off x="667512" y="2103120"/>
            <a:ext cx="53949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Vértices (|V| = 7): cada peça de dominó é um vértice, numerada de 1 a 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Arestas (|E| = 6): par ordenado (x, y) — “se x cai, y cai”.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Tipo: grafo simples, direcionado (dígrafo) e não ponderado; sem laços e sem arcos paralelos.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Pergunta traduzida: “quantas peças caem” = quantos vértices são alcançáveis a partir das fontes.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" name="Google Shape;53;p5"/>
          <p:cNvGraphicFramePr/>
          <p:nvPr/>
        </p:nvGraphicFramePr>
        <p:xfrm>
          <a:off x="6263640" y="21214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{C634A26E-B263-47A8-9D14-C651F689C78B}</a:tableStyleId>
              </a:tblPr>
              <a:tblGrid>
                <a:gridCol w="1051550"/>
                <a:gridCol w="484625"/>
                <a:gridCol w="484625"/>
                <a:gridCol w="493775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d⁻(v)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d⁺(v)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d(v)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5, 6, 7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" name="Google Shape;54;p5"/>
          <p:cNvSpPr txBox="1"/>
          <p:nvPr/>
        </p:nvSpPr>
        <p:spPr>
          <a:xfrm>
            <a:off x="6263640" y="387705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Graus de entrada, saída e 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098280" y="2720149"/>
            <a:ext cx="2633400" cy="804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9244584" y="2793301"/>
            <a:ext cx="2340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ρ ≈ 0,14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9244584" y="3140773"/>
            <a:ext cx="2340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ρ = |E| / (|V|·(|V|−1)) = 6/42 → esparso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667512" y="5138928"/>
            <a:ext cx="1085667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D3D3D"/>
                </a:solidFill>
                <a:latin typeface="Calibri"/>
                <a:ea typeface="Calibri"/>
                <a:cs typeface="Calibri"/>
                <a:sym typeface="Calibri"/>
              </a:rPr>
              <a:t>Figura 2: caracterização do dígrafo do problema. Com |E| = |V| − 1 e um único vértice de grau de entrada zero, o grafo é uma arborescência enraizada no vértice 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/>
        </p:nvSpPr>
        <p:spPr>
          <a:xfrm>
            <a:off x="667512" y="47548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RESOLUÇÃO DE PROBLEMAS COM GRAFOS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612648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3 Representação computacional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667512" y="1399032"/>
            <a:ext cx="960120" cy="50292"/>
          </a:xfrm>
          <a:prstGeom prst="rect">
            <a:avLst/>
          </a:prstGeom>
          <a:solidFill>
            <a:srgbClr val="009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612648" y="160934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3.1 Matriz de adjacência × Lista de adjacência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667512" y="58704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CENTRO DE CIÊNCIAS TECNOLÓGICAS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667512" y="6071616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1. SEDGEWICK, R.; WAYNE, K. Algorithms. Addison-Wesley, 2014.  2. ASCENCIO, A. F. G.; ARAÚJO, G. S. Estruturas de Dados, 2010.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logo_unifor.png" id="70" name="Google Shape;7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48" y="5504688"/>
            <a:ext cx="2194560" cy="58064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667512" y="2103120"/>
            <a:ext cx="420624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813816" y="2194560"/>
            <a:ext cx="39136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Matriz de adjacência (não simétrica)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813816" y="2432304"/>
            <a:ext cx="3913632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1  2  3  4  5  6  7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 [  0  1  1  0  0  0  0 ]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2 [  0  0  0  0  0  0  0 ]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3 [  0  0  0  1  0  0  0 ]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4 [  0  0  0  0  1  1  1 ]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5 [  0  0  0  0  0  0  0 ]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6 [  0  0  0  0  0  0  0 ]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7 [  0  0  0  0  0  0  0 ]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074920" y="2103120"/>
            <a:ext cx="274320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5221224" y="2194560"/>
            <a:ext cx="24505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Lista de adjacência (sucessores)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5221224" y="2432304"/>
            <a:ext cx="2450592" cy="1252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 → 2, 3      5 → 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2 → ∅         6 → 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3 → 4         7 → 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4 → 5, 6, 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8001000" y="2103120"/>
            <a:ext cx="352044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8165592" y="2267712"/>
            <a:ext cx="32004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43 das 49 células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da matriz são zero.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operação dominante do algoritmo é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percorrer sucessores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e não testar a existência de uma aresta.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6"/>
          <p:cNvGraphicFramePr/>
          <p:nvPr/>
        </p:nvGraphicFramePr>
        <p:xfrm>
          <a:off x="667512" y="3977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{C634A26E-B263-47A8-9D14-C651F689C78B}</a:tableStyleId>
              </a:tblPr>
              <a:tblGrid>
                <a:gridCol w="2697475"/>
                <a:gridCol w="1600200"/>
                <a:gridCol w="2057400"/>
                <a:gridCol w="2395725"/>
                <a:gridCol w="2103125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Representação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Espaço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Verificar (v, w)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Iterar vizinhos de v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Caso n = 10 000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Matriz de adjacência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O(V²)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10⁸ células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Lista de adjacência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O(V + 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O(grau(v))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O(grau(v))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≤ 2·10⁴ entradas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" name="Google Shape;80;p6"/>
          <p:cNvSpPr/>
          <p:nvPr/>
        </p:nvSpPr>
        <p:spPr>
          <a:xfrm>
            <a:off x="667512" y="5047488"/>
            <a:ext cx="10853928" cy="530352"/>
          </a:xfrm>
          <a:prstGeom prst="rect">
            <a:avLst/>
          </a:prstGeom>
          <a:solidFill>
            <a:srgbClr val="FDE9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 txBox="1"/>
          <p:nvPr/>
        </p:nvSpPr>
        <p:spPr>
          <a:xfrm>
            <a:off x="777240" y="5065776"/>
            <a:ext cx="10634472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Conclusão: </a:t>
            </a: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lista de adjacência é a representação adequada — o grafo é esparso (ρ ≈ 0,14) e a matriz tornaria cada busca O(V²) = 10⁸ por caso de teste, inviável em tempo e memória.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 txBox="1"/>
          <p:nvPr/>
        </p:nvSpPr>
        <p:spPr>
          <a:xfrm>
            <a:off x="667512" y="47548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RESOLUÇÃO DE PROBLEMAS COM GRAFOS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612648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4 Busca em grafos: DFS e BFS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67512" y="1399032"/>
            <a:ext cx="960120" cy="50292"/>
          </a:xfrm>
          <a:prstGeom prst="rect">
            <a:avLst/>
          </a:prstGeom>
          <a:solidFill>
            <a:srgbClr val="009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612648" y="160934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4.1 Implementação básica em Python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667512" y="58704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CENTRO DE CIÊNCIAS TECNOLÓGICAS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 txBox="1"/>
          <p:nvPr/>
        </p:nvSpPr>
        <p:spPr>
          <a:xfrm>
            <a:off x="667512" y="6071616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1. SEDGEWICK, R.; WAYNE, K. Algorithms. Addison-Wesley, 2011.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logo_unifor.png" id="93" name="Google Shape;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48" y="5504688"/>
            <a:ext cx="2194560" cy="58064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7"/>
          <p:cNvSpPr txBox="1"/>
          <p:nvPr/>
        </p:nvSpPr>
        <p:spPr>
          <a:xfrm>
            <a:off x="667512" y="2066544"/>
            <a:ext cx="1085392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Graph(V) do algs4-py mantém self.adj — um array de V objetos Bag, ou seja, uma lista de adjacência.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DFS e BFS usam o mesmo estado (marked[], edge_to[]); muda apenas a ordem de retirada dos vértices.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Ambos: O(V + E) em tempo e O(V) em espaço.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67512" y="2907792"/>
            <a:ext cx="5257800" cy="1883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813816" y="2999232"/>
            <a:ext cx="49651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depth_first_search.py — DFS (pilha implícita)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813816" y="3236976"/>
            <a:ext cx="496519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dfs(self, G, v):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self.marked[v] = True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self.count += 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for w in G.adj[v]: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not self.marked[w]: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self.dfs(G, w)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263640" y="2907792"/>
            <a:ext cx="5257800" cy="18836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DF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6409944" y="2999232"/>
            <a:ext cx="49651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breadth_first_paths.py — BFS (fila FIFO)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 txBox="1"/>
          <p:nvPr/>
        </p:nvSpPr>
        <p:spPr>
          <a:xfrm>
            <a:off x="6409944" y="3236976"/>
            <a:ext cx="496519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bfs(self, G, s):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self._marked[s] = True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queue = deque([s])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while queue: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v = queue.popleft()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w in G.adj[v]: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not self._marked[w]: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self.edge_to[w] = 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self._marked[w] = True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queue.append(w)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67512" y="4901184"/>
            <a:ext cx="10853928" cy="420624"/>
          </a:xfrm>
          <a:prstGeom prst="rect">
            <a:avLst/>
          </a:prstGeom>
          <a:solidFill>
            <a:srgbClr val="FDE9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 txBox="1"/>
          <p:nvPr/>
        </p:nvSpPr>
        <p:spPr>
          <a:xfrm>
            <a:off x="777240" y="4919472"/>
            <a:ext cx="106344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DFS marca ao entrar no vértice; BFS marca ao enfileirar. </a:t>
            </a: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contador count do DepthFirstSearch é exatamente a resposta do nosso problema: o total de peças que caem.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667512" y="5413248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Notas: 1. O DFS do algs4-py é recursivo — em grafos grandes pode estourar o limite de pilha do Python.  2. Graph.add_edge insere nos dois sentidos; nosso caso exige Digraph.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/>
        </p:nvSpPr>
        <p:spPr>
          <a:xfrm>
            <a:off x="667512" y="47548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RESOLUÇÃO DE PROBLEMAS COM GRAFOS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 txBox="1"/>
          <p:nvPr/>
        </p:nvSpPr>
        <p:spPr>
          <a:xfrm>
            <a:off x="612648" y="749808"/>
            <a:ext cx="10881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4A7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C4A7E"/>
                </a:solidFill>
                <a:latin typeface="Calibri"/>
                <a:ea typeface="Calibri"/>
                <a:cs typeface="Calibri"/>
                <a:sym typeface="Calibri"/>
              </a:rPr>
              <a:t>5 Validação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667512" y="1399032"/>
            <a:ext cx="960120" cy="50292"/>
          </a:xfrm>
          <a:prstGeom prst="rect">
            <a:avLst/>
          </a:prstGeom>
          <a:solidFill>
            <a:srgbClr val="0091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 txBox="1"/>
          <p:nvPr/>
        </p:nvSpPr>
        <p:spPr>
          <a:xfrm>
            <a:off x="612648" y="160934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5.1 Conclusões preliminares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667512" y="587044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CENTRO DE CIÊNCIAS TECNOLÓGICAS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667512" y="6071616"/>
            <a:ext cx="85953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1. SEDGEWICK, R.; WAYNE, K. Algorithms. Addison-Wesley, 2014.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work/logo_unifor.png" id="115" name="Google Shape;1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8048" y="5504688"/>
            <a:ext cx="2194560" cy="58064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8"/>
          <p:cNvSpPr txBox="1"/>
          <p:nvPr/>
        </p:nvSpPr>
        <p:spPr>
          <a:xfrm>
            <a:off x="667512" y="2103120"/>
            <a:ext cx="630936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modelagem como dígrafo captura a assimetria da queda: 3 → 4 não implica 4 → 3.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problema se reduz a alcançabilidade: contar os vértices atingíveis a partir das peças derrubadas à mão.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DFS e BFS produzem o mesmo resultado — em tinyCG.txt o DFS chega ao vértice 5 por 0-2-3-5 e o BFS por 0-5, mas o conjunto alcançado é idêntico e o problema pede apenas sua cardinalidade.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Um marked[] compartilhado entre as l origens evita contagem duplicada quando as cascatas se sobrepõem.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Lista de adjacência + busca linear → O(V + E) por caso de teste, adequado ao limite de 10 000.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8"/>
          <p:cNvGraphicFramePr/>
          <p:nvPr/>
        </p:nvGraphicFramePr>
        <p:xfrm>
          <a:off x="7269480" y="21214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{C634A26E-B263-47A8-9D14-C651F689C78B}</a:tableStyleId>
              </a:tblPr>
              <a:tblGrid>
                <a:gridCol w="1600200"/>
                <a:gridCol w="1828800"/>
                <a:gridCol w="8229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Peça derrubada à mão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Peças que caem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4A7E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1, 2, 3, 4, 5, 6, 7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3, 4, 5, 6, 7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4, 5, 6, 7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8"/>
          <p:cNvSpPr txBox="1"/>
          <p:nvPr/>
        </p:nvSpPr>
        <p:spPr>
          <a:xfrm>
            <a:off x="7269480" y="3858768"/>
            <a:ext cx="4251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C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A6B7C"/>
                </a:solidFill>
                <a:latin typeface="Calibri"/>
                <a:ea typeface="Calibri"/>
                <a:cs typeface="Calibri"/>
                <a:sym typeface="Calibri"/>
              </a:rPr>
              <a:t>Casos de verificação sobre o grafo da Figura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269480" y="4224528"/>
            <a:ext cx="4251960" cy="868680"/>
          </a:xfrm>
          <a:prstGeom prst="rect">
            <a:avLst/>
          </a:prstGeom>
          <a:solidFill>
            <a:srgbClr val="FDE9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7388352" y="4261104"/>
            <a:ext cx="4023360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Os resultados confirmam a arborescência identificada na modelagem: a contagem a partir de um vértice equivale ao tamanho da subárvore enraizada nele.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